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363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23760" y="128016"/>
            <a:ext cx="4967935" cy="6729984"/>
          </a:xfrm>
          <a:prstGeom prst="rect">
            <a:avLst/>
          </a:prstGeom>
          <a:solidFill>
            <a:srgbClr val="173E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D8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 ·   RETAIL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Forecasting Across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Retail Stores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Exploration of Customer Purchasing Behaviour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en-US" sz="13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analysis was conducted on 1,017,209 historical store-day records from the Rossmann Pharmaceuticals network, which were synthesized into a comprehensive 35-feature analytical framework. This analysis serves as the evidence base for the development of a daily sales forecasting model covering a six-week period.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54864" cy="868680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9808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by :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Goel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D8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SCOPE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138988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1,115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92640" y="13898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analysed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0" y="1828800"/>
            <a:ext cx="3931920" cy="9144"/>
          </a:xfrm>
          <a:prstGeom prst="rect">
            <a:avLst/>
          </a:prstGeom>
          <a:solidFill>
            <a:srgbClr val="2E556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0" y="19568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5.87 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92640" y="1956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in period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2395728"/>
            <a:ext cx="3931920" cy="9144"/>
          </a:xfrm>
          <a:prstGeom prst="rect">
            <a:avLst/>
          </a:prstGeom>
          <a:solidFill>
            <a:srgbClr val="2E556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0" y="25237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644 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92640" y="25237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 visits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2962656"/>
            <a:ext cx="3931920" cy="9144"/>
          </a:xfrm>
          <a:prstGeom prst="rect">
            <a:avLst/>
          </a:prstGeom>
          <a:solidFill>
            <a:srgbClr val="2E556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0" y="30906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6,956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69264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sales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0" y="3529584"/>
            <a:ext cx="3931920" cy="9144"/>
          </a:xfrm>
          <a:prstGeom prst="rect">
            <a:avLst/>
          </a:prstGeom>
          <a:solidFill>
            <a:srgbClr val="2E556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0" y="36576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9.12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692640" y="3657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customer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4096512"/>
            <a:ext cx="3931920" cy="9144"/>
          </a:xfrm>
          <a:prstGeom prst="rect">
            <a:avLst/>
          </a:prstGeom>
          <a:solidFill>
            <a:srgbClr val="2E556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0" y="4224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2013–2015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692640" y="4224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C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horizon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0" y="5120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8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data completeness: 100.0% across core analytical fields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Retail Demand Analysis  ·  Task 1 Exploratory Data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6355080"/>
            <a:ext cx="1218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5A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900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Integrity Established Before Any Inference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1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behavioural inference, the three source tables were profiled, reconciled and merged into a single 35-feature analytical view. Every missing field was classified as structural or genuine, and each remediation preserves the original signal through an accompanying indicator variable.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7530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68580" cy="1298448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8096" y="1737360"/>
            <a:ext cx="3209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1,017,209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8096" y="2212848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414016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1,115 stores · 942 trading dates · Jan 2013 – Jul 2015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06824" y="1627632"/>
            <a:ext cx="3575304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06824" y="1627632"/>
            <a:ext cx="68580" cy="1298448"/>
          </a:xfrm>
          <a:prstGeom prst="rect">
            <a:avLst/>
          </a:prstGeom>
          <a:solidFill>
            <a:srgbClr val="173E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26280" y="1737360"/>
            <a:ext cx="3209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41,088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26280" y="2212848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RECORDS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26280" y="2414016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856 stores · 48 dates · six-week horizon to Sep 2015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1627632"/>
            <a:ext cx="357621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065008" y="1627632"/>
            <a:ext cx="68580" cy="1298448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84464" y="1737360"/>
            <a:ext cx="32104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/ 8 / 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84464" y="2212848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RULES · CHECKS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84464" y="2414016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35-column analytical view · 8 validation rules passed · 2.30% residual missing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CLASSIFIED AND TREATED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579296"/>
              </p:ext>
            </p:extLst>
          </p:nvPr>
        </p:nvGraphicFramePr>
        <p:xfrm>
          <a:off x="548640" y="3364992"/>
          <a:ext cx="5577840" cy="1618488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AND TREATMENT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Promo2 attributes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— 544 stores never enrolled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 open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— kept with availability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 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— store-type median +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Test-set Open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— store-day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StateHoliday encoding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1E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Normalised to 0 / a / b /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510235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100" i="1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observations were deleted. Promo2 gaps mean a store never enrolled — commercial meaning, not error.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596128"/>
            <a:ext cx="5577840" cy="621792"/>
          </a:xfrm>
          <a:prstGeom prst="rect">
            <a:avLst/>
          </a:prstGeom>
          <a:solidFill>
            <a:srgbClr val="F1EEE7"/>
          </a:solidFill>
          <a:ln w="9525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48640" y="5596128"/>
            <a:ext cx="68580" cy="621792"/>
          </a:xfrm>
          <a:prstGeom prst="rect">
            <a:avLst/>
          </a:prstGeom>
          <a:solidFill>
            <a:srgbClr val="8A6B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68096" y="5650992"/>
            <a:ext cx="5175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68096" y="5833872"/>
            <a:ext cx="5175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negative sales, zero customers at closed stores, zero duplicate store-date keys, zero unmatched StoreType or Assortment after merge.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0" y="3108960"/>
            <a:ext cx="5242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CONTEXTUALISED, NOT DISCARDED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0" y="3364992"/>
            <a:ext cx="5242255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400800" y="3364992"/>
            <a:ext cx="68580" cy="1316736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0" descr="/workspace/assets/dist_boxplots.png"/>
          <p:cNvPicPr>
            <a:picLocks noChangeAspect="1"/>
          </p:cNvPicPr>
          <p:nvPr/>
        </p:nvPicPr>
        <p:blipFill>
          <a:blip r:embed="rId3"/>
          <a:srcRect t="-1587" b="-1587"/>
          <a:stretch/>
        </p:blipFill>
        <p:spPr>
          <a:xfrm>
            <a:off x="6547104" y="3447288"/>
            <a:ext cx="4937760" cy="11887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455664" y="4809744"/>
            <a:ext cx="5187391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fencing flags 2.62% of sales and 3.75% of customer observations as statistically extreme.</a:t>
            </a:r>
            <a:endParaRPr lang="en-US" sz="1050" dirty="0"/>
          </a:p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71.9% of those extreme days coincide with promotions and 22.7% with school holidays — commercial peaks, not measurement error.</a:t>
            </a:r>
            <a:endParaRPr lang="en-US" sz="1050" dirty="0"/>
          </a:p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0.53% fall on state holidays, confirming the upper tail is promotion-driven rather than calendar-driven.</a:t>
            </a:r>
            <a:endParaRPr lang="en-US" sz="1050" dirty="0"/>
          </a:p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extremes were flagged rather than removed, keeping genuine demand peaks available to the forecasting model.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548640" y="6355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1,017,209 store-day records validated  ·  100% completeness on core analytical fields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0424160" y="6355080"/>
            <a:ext cx="1218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5A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CUSTOMER DEMAND &amp; PROMOTION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Explains Demand; Promotions Amplify It Unevenly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2013–2015 the network realised 5.87 billion in sales from 644 million customer visits — averaging 6,955 per store-day. Traffic and promotions are the strongest observable influences on realised demand.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672084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68580" cy="2212848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8096" y="171907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SALES TREND · SEVEN-DAY MOVING AVERAGE</a:t>
            </a:r>
            <a:endParaRPr lang="en-US" sz="1000" dirty="0"/>
          </a:p>
        </p:txBody>
      </p:sp>
      <p:pic>
        <p:nvPicPr>
          <p:cNvPr id="8" name="Image 0" descr="/workspace/assets/c_sales_tr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956816"/>
            <a:ext cx="6355080" cy="1773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913632"/>
            <a:ext cx="6720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2013–2015 with recurring weekly cycles and a December spike each year — no structural trend break that would undermine training on the full history.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4407408"/>
            <a:ext cx="6720840" cy="1792224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48640" y="4407408"/>
            <a:ext cx="68580" cy="1792224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68096" y="449884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EXPOSURE · TRAINING VERSUS FORECAST PERIOD</a:t>
            </a:r>
            <a:endParaRPr lang="en-US" sz="1000" dirty="0"/>
          </a:p>
        </p:txBody>
      </p:sp>
      <p:pic>
        <p:nvPicPr>
          <p:cNvPr id="13" name="Image 1" descr="/workspace/assets/c_promo_di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5568" y="4700016"/>
            <a:ext cx="5577840" cy="14081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543800" y="1627632"/>
            <a:ext cx="4099255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543800" y="1627632"/>
            <a:ext cx="68580" cy="1060704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7763256" y="1737360"/>
            <a:ext cx="37334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0.824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7763256" y="2212848"/>
            <a:ext cx="37334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SALES–CUSTOMER CORRELATION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763256" y="2414016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the dominant demand component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543800" y="2798064"/>
            <a:ext cx="4099255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543800" y="2798064"/>
            <a:ext cx="68580" cy="1060704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7763256" y="2907792"/>
            <a:ext cx="37334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+38.8%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7763256" y="3383280"/>
            <a:ext cx="37334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SALES UPLIFT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763256" y="3584448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comparable descriptive signal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543800" y="3968496"/>
            <a:ext cx="4099255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7543800" y="3968496"/>
            <a:ext cx="68580" cy="1060704"/>
          </a:xfrm>
          <a:prstGeom prst="rect">
            <a:avLst/>
          </a:prstGeom>
          <a:solidFill>
            <a:srgbClr val="173E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7763256" y="4078224"/>
            <a:ext cx="37334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9.12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7763256" y="4553712"/>
            <a:ext cx="37334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PER CUSTOMER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763256" y="4754880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intensity across 644 M visits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543800" y="5138928"/>
            <a:ext cx="4099255" cy="1060704"/>
          </a:xfrm>
          <a:prstGeom prst="rect">
            <a:avLst/>
          </a:prstGeom>
          <a:solidFill>
            <a:srgbClr val="F1EEE7"/>
          </a:solidFill>
          <a:ln w="9525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7543800" y="5138928"/>
            <a:ext cx="68580" cy="1060704"/>
          </a:xfrm>
          <a:prstGeom prst="rect">
            <a:avLst/>
          </a:prstGeom>
          <a:solidFill>
            <a:srgbClr val="8A6B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7763256" y="5212080"/>
            <a:ext cx="36786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7763256" y="5413248"/>
            <a:ext cx="36786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differs by only 1.43 points between periods (38.15% vs 39.58%); across trading days the network promotes on 44.64% of open store-days. Uplift is not uniform across stores — targeting beats blanket deployment.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548640" y="6355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response varies by store  ·  Selective deployment is preferred to uniform network-wide promotion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0424160" y="6355080"/>
            <a:ext cx="1218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5A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CALENDAR, STORE STRATEGY &amp;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Factors Differentiate Demand Across the Network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traffic and promotions, demand is shaped by the trading calendar, store configuration and local market structure. The network is dominated by StoreType a (54.2%) and d (30.8%), with assortment a running in 52.8% of stores — a mix that must condition every store-level comparison below.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8064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68580" cy="2487168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8096" y="171907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CUSTOMER BEHAVIOUR AROUND STATE HOLIDAYS</a:t>
            </a:r>
            <a:endParaRPr lang="en-US" sz="1000" dirty="0"/>
          </a:p>
        </p:txBody>
      </p:sp>
      <p:pic>
        <p:nvPicPr>
          <p:cNvPr id="8" name="Image 0" descr="/workspace/assets/c_holiday_inde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956816"/>
            <a:ext cx="5440680" cy="20482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18795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to a pre-holiday baseline of 100 across a −7 to +7 window — 31,050 holiday events across 455,714 window observations (public, Easter, Christmas).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4718304"/>
            <a:ext cx="58064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  <a:effectLst>
            <a:outerShdw blurRad="101600" dist="25400" dir="5400000" algn="bl" rotWithShape="0">
              <a:srgbClr val="0C2439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48640" y="4718304"/>
            <a:ext cx="68580" cy="1481328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68096" y="480974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HOLIDAY EFFECT IS AN AVAILABILITY EFFECT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8096" y="5065776"/>
            <a:ext cx="53675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holiday sales fall 95.95% and customers 94.03% — but only 2.93% of stores trade that day.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stores that do open, sales rise +12.18% to 8,809 per day on 1,367 customers.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recovers within a day, then runs 9.19% below baseline for the following week.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29400" y="1627632"/>
            <a:ext cx="5013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DEMAND DRIVERS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29400" y="1920240"/>
            <a:ext cx="501365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629400" y="1920240"/>
            <a:ext cx="68580" cy="713232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830568" y="198424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+23.8%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321040" y="1984248"/>
            <a:ext cx="30934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trading month against the annual average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629400" y="2706624"/>
            <a:ext cx="501365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629400" y="2706624"/>
            <a:ext cx="68580" cy="713232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830568" y="277063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+30.5%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321040" y="2770632"/>
            <a:ext cx="30934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assortment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Best-to-lowest spread across the three configurations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629400" y="3493008"/>
            <a:ext cx="501365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629400" y="3493008"/>
            <a:ext cx="68580" cy="713232"/>
          </a:xfrm>
          <a:prstGeom prst="rect">
            <a:avLst/>
          </a:prstGeom>
          <a:solidFill>
            <a:srgbClr val="173E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830568" y="35570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85.0%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321040" y="3557016"/>
            <a:ext cx="30934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portfolio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StoreType a and d together dominate the network mix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629400" y="4279392"/>
            <a:ext cx="501365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629400" y="4279392"/>
            <a:ext cx="68580" cy="713232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830568" y="43434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2.33 km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321040" y="4343400"/>
            <a:ext cx="30934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proximity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distance; 99.7% of stores originally observed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629400" y="5065776"/>
            <a:ext cx="501365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6629400" y="5065776"/>
            <a:ext cx="68580" cy="713232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830568" y="51297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4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−4.3%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321040" y="5129784"/>
            <a:ext cx="30934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entry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store-level post-entry sales difference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629400" y="5870448"/>
            <a:ext cx="5013655" cy="329184"/>
          </a:xfrm>
          <a:prstGeom prst="rect">
            <a:avLst/>
          </a:prstGeom>
          <a:solidFill>
            <a:srgbClr val="F1EEE7"/>
          </a:solidFill>
          <a:ln w="9525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6629400" y="5870448"/>
            <a:ext cx="68580" cy="329184"/>
          </a:xfrm>
          <a:prstGeom prst="rect">
            <a:avLst/>
          </a:prstGeom>
          <a:solidFill>
            <a:srgbClr val="8A6B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6848856" y="5870448"/>
            <a:ext cx="4593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Associations, not causal estimates — promotions and assortments were never randomly assigned.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48640" y="6355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Seasonality, assortment and competitive context should enter store-level planning jointly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0424160" y="6355080"/>
            <a:ext cx="1218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5A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D8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RECOMMENDATIONS &amp; FORECASTING READINESS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Exploratory Evidence to a Leakage-Safe Forecasting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75304" cy="3566160"/>
          </a:xfrm>
          <a:prstGeom prst="rect">
            <a:avLst/>
          </a:prstGeom>
          <a:solidFill>
            <a:srgbClr val="173E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algn="just"/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75304" cy="54864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" y="157276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D8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1938528"/>
            <a:ext cx="30998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3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promotional investment toward stores with demonstrated incremental response rather than uniform network deployment.</a:t>
            </a:r>
            <a:endParaRPr lang="en-US" sz="1150" dirty="0"/>
          </a:p>
          <a:p>
            <a:pPr marL="177800" indent="-177800" algn="just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3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inventory and workforce planning with the December peak and observed weekend demand profiles.</a:t>
            </a:r>
            <a:endParaRPr lang="en-US" sz="1150" dirty="0"/>
          </a:p>
          <a:p>
            <a:pPr marL="177800" indent="-177800" algn="just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3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assortment decisions within comparable store formats, not across the whole network.</a:t>
            </a:r>
            <a:endParaRPr lang="en-US" sz="1150" dirty="0"/>
          </a:p>
          <a:p>
            <a:pPr marL="177800" indent="-177800" algn="just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3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competitive proximity as one input to multi-factor store planning, not an isolated decision rule.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371600"/>
            <a:ext cx="3575304" cy="3566160"/>
          </a:xfrm>
          <a:prstGeom prst="rect">
            <a:avLst/>
          </a:prstGeom>
          <a:solidFill>
            <a:srgbClr val="173E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06824" y="1371600"/>
            <a:ext cx="3575304" cy="54864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44568" y="157276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D8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HANDOFF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4568" y="1938528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5A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AS PREDICTORS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44568" y="2212848"/>
            <a:ext cx="3099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150" dirty="0">
                <a:solidFill>
                  <a:srgbClr val="D3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identity · Open · Promo · engineered calendar features · state and school holidays · StoreType · Assortment · CompetitionDistance with missingness indicator · competitor-entry timing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44568" y="3611880"/>
            <a:ext cx="3099816" cy="9144"/>
          </a:xfrm>
          <a:prstGeom prst="rect">
            <a:avLst/>
          </a:prstGeom>
          <a:solidFill>
            <a:srgbClr val="2E556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44568" y="3749040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5A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TO PREVENT LEAKAGE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44568" y="402336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150" dirty="0">
                <a:solidFill>
                  <a:srgbClr val="D3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SalesPerCustomer, which are unavailable at prediction time despite strong explanatory value in analysis.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65008" y="1371600"/>
            <a:ext cx="3576218" cy="3566160"/>
          </a:xfrm>
          <a:prstGeom prst="rect">
            <a:avLst/>
          </a:prstGeom>
          <a:solidFill>
            <a:srgbClr val="12324A"/>
          </a:solidFill>
          <a:ln w="9525">
            <a:solidFill>
              <a:srgbClr val="2E5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065008" y="1371600"/>
            <a:ext cx="3576218" cy="54864"/>
          </a:xfrm>
          <a:prstGeom prst="rect">
            <a:avLst/>
          </a:prstGeom>
          <a:solidFill>
            <a:srgbClr val="D8BE8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02752" y="1572768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D8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LIMITATIONS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02752" y="1938528"/>
            <a:ext cx="310073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identifiers, so new versus existing promotional response cannot be separated.</a:t>
            </a:r>
            <a:endParaRPr lang="en-US" sz="1150" dirty="0"/>
          </a:p>
          <a:p>
            <a:pPr marL="177800" indent="-177800" algn="just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intraday timestamps; opening and closing behaviour is measurable only at daily resolution.</a:t>
            </a:r>
            <a:endParaRPr lang="en-US" sz="1150" dirty="0"/>
          </a:p>
          <a:p>
            <a:pPr marL="177800" indent="-177800" algn="just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city-centre or geographic classification, so location-specific competition cannot be tested.</a:t>
            </a:r>
            <a:endParaRPr lang="en-US" sz="1150" dirty="0"/>
          </a:p>
          <a:p>
            <a:pPr marL="177800" indent="-177800" algn="just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openings are recorded only to month and year, making event anchors approximate.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138928"/>
            <a:ext cx="11094415" cy="1042416"/>
          </a:xfrm>
          <a:prstGeom prst="rect">
            <a:avLst/>
          </a:prstGeom>
          <a:solidFill>
            <a:srgbClr val="173E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5138928"/>
            <a:ext cx="68580" cy="1042416"/>
          </a:xfrm>
          <a:prstGeom prst="rect">
            <a:avLst/>
          </a:prstGeom>
          <a:solidFill>
            <a:srgbClr val="C5A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52486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8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CONCLUSION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477256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demand should be interpreted as a multi-factor retail system rather than through any single variable. Task 1 delivers a validated, documented foundation for a leakage-safe, store-aware and calendar-aware forecasting pipeline.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35240" y="5321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A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100.0%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35240" y="5705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79408" y="5321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A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100.0%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79408" y="5705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23576" y="5321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5A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99.7%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323576" y="5705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C24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status: complete and validated  ·  Next stage: predictive sales-forecasting pipeline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24160" y="6355080"/>
            <a:ext cx="1218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5A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1118</Words>
  <Application>Microsoft Office PowerPoint</Application>
  <PresentationFormat>Widescreen</PresentationFormat>
  <Paragraphs>146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NextHikes IT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Rossmann Sales Forecasting — Task 1 EDA</dc:title>
  <dc:subject>PptxGenJS Presentation</dc:subject>
  <dc:creator>Riya</dc:creator>
  <cp:lastModifiedBy>Riya Goel (MSc Business Analytics FT)</cp:lastModifiedBy>
  <cp:revision>2</cp:revision>
  <dcterms:created xsi:type="dcterms:W3CDTF">2026-09-15T06:52:49Z</dcterms:created>
  <dcterms:modified xsi:type="dcterms:W3CDTF">2026-09-15T14:34:16Z</dcterms:modified>
</cp:coreProperties>
</file>